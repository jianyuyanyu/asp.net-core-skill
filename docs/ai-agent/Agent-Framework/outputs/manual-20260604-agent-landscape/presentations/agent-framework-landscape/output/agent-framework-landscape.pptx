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d34d32274a44c2" /><Relationship Type="http://schemas.openxmlformats.org/officeDocument/2006/relationships/extended-properties" Target="/docProps/app.xml" Id="R0f5cd6d9c4434f5f" /><Relationship Type="http://schemas.openxmlformats.org/officeDocument/2006/relationships/officeDocument" Target="/ppt/presentation.xml" Id="R748a9e8f42c64a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8349dd7da6475e"/>
  </p:sldMasterIdLst>
  <p:notesMasterIdLst>
    <p:notesMasterId xmlns:r="http://schemas.openxmlformats.org/officeDocument/2006/relationships" r:id="R04b8412026cc4442"/>
  </p:notesMasterIdLst>
  <p:sldIdLst>
    <p:sldId xmlns:r="http://schemas.openxmlformats.org/officeDocument/2006/relationships" id="256" r:id="Rda2002bd1a8c48d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8349dd7da6475e" /><Relationship Type="http://schemas.openxmlformats.org/officeDocument/2006/relationships/theme" Target="/ppt/theme/theme1.xml" Id="Rb3f927913a4d4125" /><Relationship Type="http://schemas.openxmlformats.org/officeDocument/2006/relationships/notesMaster" Target="/ppt/notesMasters/notesMaster1.xml" Id="R04b8412026cc4442" /><Relationship Type="http://schemas.openxmlformats.org/officeDocument/2006/relationships/presProps" Target="/ppt/presProps.xml" Id="R57aebedaf9564045" /><Relationship Type="http://schemas.openxmlformats.org/officeDocument/2006/relationships/viewProps" Target="/ppt/viewProps.xml" Id="R2730d9511f174a67" /><Relationship Type="http://schemas.openxmlformats.org/officeDocument/2006/relationships/tableStyles" Target="/ppt/tableStyles.xml" Id="R4e47049d7545444b" /><Relationship Type="http://schemas.openxmlformats.org/officeDocument/2006/relationships/slide" Target="/ppt/slides/slide1.xml" Id="Rda2002bd1a8c48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e384fc954c84d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e3934ec1994797" /><Relationship Type="http://schemas.openxmlformats.org/officeDocument/2006/relationships/notesMaster" Target="/ppt/notesMasters/notesMaster1.xml" Id="Ra16c667eaad942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80a00f0301427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2a3b27821ac4651" /><Relationship Type="http://schemas.openxmlformats.org/officeDocument/2006/relationships/slideLayout" Target="/ppt/slideLayouts/slideLayout2.xml" Id="R8161778b3eed49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61778b3eed49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8c8492e23f41f4" /><Relationship Type="http://schemas.openxmlformats.org/officeDocument/2006/relationships/notesSlide" Target="/ppt/notesSlides/notesSlide1.xml" Id="Rb5e1ce5441a243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689EB1-52CB-4488-B3D6-B7988991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0">
            <a:solidFill>
              <a:srgbClr val="F8FB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46EF0-5A7E-44C5-8F83-E13E9881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762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6162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6162F"/>
                </a:solidFill>
                <a:latin typeface="Aptos Display"/>
                <a:ea typeface="Aptos Display"/>
                <a:cs typeface="Aptos Display"/>
              </a:rPr>
              <a:t>Agent Framework Landscape (2026)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0C2DA-84E9-46A3-83CB-40CBC7AB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3345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A6B8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5A6B82"/>
                </a:solidFill>
                <a:latin typeface="Microsoft YaHei UI"/>
                <a:ea typeface="Microsoft YaHei UI"/>
                <a:cs typeface="Microsoft YaHei UI"/>
              </a:rPr>
              <a:t>主流 Agent 框架能力与开发效率对比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EAC3FE-3C84-40E6-A2F2-4EBA8374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476375"/>
            <a:ext cx="9525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7D8"/>
          </a:solidFill>
          <a:ln xmlns:a="http://schemas.openxmlformats.org/drawingml/2006/main" w="9525">
            <a:solidFill>
              <a:srgbClr val="B9C7D8"/>
            </a:solidFill>
            <a:prstDash val="dash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BAC32D-525C-44D9-9C4E-5D939111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476375"/>
            <a:ext cx="9525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7D8"/>
          </a:solidFill>
          <a:ln xmlns:a="http://schemas.openxmlformats.org/drawingml/2006/main" w="9525">
            <a:solidFill>
              <a:srgbClr val="B9C7D8"/>
            </a:solidFill>
            <a:prstDash val="dash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89324F-D239-4184-9914-5CC553BE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476375"/>
            <a:ext cx="9525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7D8"/>
          </a:solidFill>
          <a:ln xmlns:a="http://schemas.openxmlformats.org/drawingml/2006/main" w="9525">
            <a:solidFill>
              <a:srgbClr val="B9C7D8"/>
            </a:solidFill>
            <a:prstDash val="dash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668490-E125-43CF-A315-B589DFD4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476375"/>
            <a:ext cx="9525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7D8"/>
          </a:solidFill>
          <a:ln xmlns:a="http://schemas.openxmlformats.org/drawingml/2006/main" w="9525">
            <a:solidFill>
              <a:srgbClr val="B9C7D8"/>
            </a:solidFill>
            <a:prstDash val="dash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50D04C-DA91-4AB1-868B-7CBA41C9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12219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7D8"/>
          </a:solidFill>
          <a:ln xmlns:a="http://schemas.openxmlformats.org/drawingml/2006/main" w="9525">
            <a:solidFill>
              <a:srgbClr val="B9C7D8"/>
            </a:solidFill>
            <a:prstDash val="dash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BDC36-FA4F-4D9E-8814-55FE6E4B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548063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7D8"/>
          </a:solidFill>
          <a:ln xmlns:a="http://schemas.openxmlformats.org/drawingml/2006/main" w="9525">
            <a:solidFill>
              <a:srgbClr val="B9C7D8"/>
            </a:solidFill>
            <a:prstDash val="dash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F85D18-9964-486E-9F7C-34423AA8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83906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7D8"/>
          </a:solidFill>
          <a:ln xmlns:a="http://schemas.openxmlformats.org/drawingml/2006/main" w="9525">
            <a:solidFill>
              <a:srgbClr val="B9C7D8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89E2F3-6332-4BC1-979E-5A319343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6197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7D8"/>
          </a:solidFill>
          <a:ln xmlns:a="http://schemas.openxmlformats.org/drawingml/2006/main" w="9525">
            <a:solidFill>
              <a:srgbClr val="B9C7D8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2B1412-8786-4D5E-B767-D2B851A6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62075"/>
            <a:ext cx="9525" cy="425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B91"/>
          </a:solidFill>
          <a:ln xmlns:a="http://schemas.openxmlformats.org/drawingml/2006/main" w="28575">
            <a:solidFill>
              <a:srgbClr val="0B3B9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86CED9-A550-4E85-BBCE-26E02812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619750"/>
            <a:ext cx="815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B91"/>
          </a:solidFill>
          <a:ln xmlns:a="http://schemas.openxmlformats.org/drawingml/2006/main" w="28575">
            <a:solidFill>
              <a:srgbClr val="0B3B9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0B32DD-1A80-421E-88AD-DFD8D3FF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1152525"/>
            <a:ext cx="1714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3B91"/>
          </a:solidFill>
          <a:ln xmlns:a="http://schemas.openxmlformats.org/drawingml/2006/main" w="9525">
            <a:solidFill>
              <a:srgbClr val="0B3B9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76AC71-D3EA-4383-8B85-7CC9B4E3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534025"/>
            <a:ext cx="2095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3B91"/>
          </a:solidFill>
          <a:ln xmlns:a="http://schemas.openxmlformats.org/drawingml/2006/main" w="9525">
            <a:solidFill>
              <a:srgbClr val="0B3B9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22715C-785F-49A0-BEF7-25958671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01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770E2B-836C-4074-BA0E-42EF4AA2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435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6DB9C1-FDBB-436C-BE01-0B06B73F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4290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3B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0B3B91"/>
                </a:solidFill>
                <a:latin typeface="Microsoft YaHei UI"/>
                <a:ea typeface="Microsoft YaHei UI"/>
                <a:cs typeface="Microsoft YaHei UI"/>
              </a:rPr>
              <a:t>企业级能力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353603-1DB4-40C9-8F58-FB70A41C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9433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3B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0B3B91"/>
                </a:solidFill>
                <a:latin typeface="Microsoft YaHei UI"/>
                <a:ea typeface="Microsoft YaHei UI"/>
                <a:cs typeface="Microsoft YaHei UI"/>
              </a:rPr>
              <a:t>(Enterprise</a:t>
            </a:r>
          </a:p>
          <a:p xmlns:a="http://schemas.openxmlformats.org/drawingml/2006/main">
            <a:pPr algn="l">
              <a:defRPr sz="1350" b="0">
                <a:solidFill>
                  <a:srgbClr val="0B3B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0B3B91"/>
                </a:solidFill>
                <a:latin typeface="Microsoft YaHei UI"/>
                <a:ea typeface="Microsoft YaHei UI"/>
                <a:cs typeface="Microsoft YaHei UI"/>
              </a:rPr>
              <a:t>Capability)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F9F33B-ECE6-4234-B0CF-08709131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81025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3B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0B3B91"/>
                </a:solidFill>
                <a:latin typeface="Microsoft YaHei UI"/>
                <a:ea typeface="Microsoft YaHei UI"/>
                <a:cs typeface="Microsoft YaHei UI"/>
              </a:rPr>
              <a:t>开发效率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F8CD2C-A611-4079-B354-1EBC906D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61150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B3B9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B3B91"/>
                </a:solidFill>
                <a:latin typeface="Aptos"/>
                <a:ea typeface="Aptos"/>
                <a:cs typeface="Aptos"/>
              </a:rPr>
              <a:t>(Developer Efficiency)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51FB70-0DD4-409C-8C58-8D3F4D6F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886450"/>
            <a:ext cx="666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3B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0B3B91"/>
                </a:solidFill>
                <a:latin typeface="Microsoft YaHei UI"/>
                <a:ea typeface="Microsoft YaHei UI"/>
                <a:cs typeface="Microsoft YaHei UI"/>
              </a:rPr>
              <a:t>低</a:t>
            </a:r>
          </a:p>
          <a:p xmlns:a="http://schemas.openxmlformats.org/drawingml/2006/main">
            <a:pPr algn="l">
              <a:defRPr sz="1350" b="1">
                <a:solidFill>
                  <a:srgbClr val="0B3B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0B3B91"/>
                </a:solidFill>
                <a:latin typeface="Microsoft YaHei UI"/>
                <a:ea typeface="Microsoft YaHei UI"/>
                <a:cs typeface="Microsoft YaHei UI"/>
              </a:rPr>
              <a:t>学习成本低</a:t>
            </a:r>
          </a:p>
          <a:p xmlns:a="http://schemas.openxmlformats.org/drawingml/2006/main">
            <a:pPr algn="l">
              <a:defRPr sz="1350" b="1">
                <a:solidFill>
                  <a:srgbClr val="0B3B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0B3B91"/>
                </a:solidFill>
                <a:latin typeface="Microsoft YaHei UI"/>
                <a:ea typeface="Microsoft YaHei UI"/>
                <a:cs typeface="Microsoft YaHei UI"/>
              </a:rPr>
              <a:t>(易上手)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9D3094-445F-400A-8B3A-7A3358F6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810250"/>
            <a:ext cx="95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B3B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0B3B91"/>
                </a:solidFill>
                <a:latin typeface="Microsoft YaHei UI"/>
                <a:ea typeface="Microsoft YaHei UI"/>
                <a:cs typeface="Microsoft YaHei UI"/>
              </a:rPr>
              <a:t>高</a:t>
            </a:r>
          </a:p>
          <a:p xmlns:a="http://schemas.openxmlformats.org/drawingml/2006/main">
            <a:pPr algn="r">
              <a:defRPr sz="1350" b="1">
                <a:solidFill>
                  <a:srgbClr val="0B3B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0B3B91"/>
                </a:solidFill>
                <a:latin typeface="Microsoft YaHei UI"/>
                <a:ea typeface="Microsoft YaHei UI"/>
                <a:cs typeface="Microsoft YaHei UI"/>
              </a:rPr>
              <a:t>学习成本高</a:t>
            </a:r>
          </a:p>
          <a:p xmlns:a="http://schemas.openxmlformats.org/drawingml/2006/main">
            <a:pPr algn="r">
              <a:defRPr sz="1350" b="1">
                <a:solidFill>
                  <a:srgbClr val="0B3B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0B3B91"/>
                </a:solidFill>
                <a:latin typeface="Microsoft YaHei UI"/>
                <a:ea typeface="Microsoft YaHei UI"/>
                <a:cs typeface="Microsoft YaHei UI"/>
              </a:rPr>
              <a:t>(更灵活)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830574-C796-4824-8CDD-E3579532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33875"/>
            <a:ext cx="1200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BD8"/>
          </a:solidFill>
          <a:ln xmlns:a="http://schemas.openxmlformats.org/drawingml/2006/main" w="9525">
            <a:solidFill>
              <a:srgbClr val="8D4B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CE1A38-1924-4C94-B8CD-7279B805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4100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84A7B4-6665-4720-8FD1-632CC895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57700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D4BD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D4BD8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4EB908-81A8-4FC7-BD96-85424E15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400550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CrewAI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26FE91-1FD1-4480-8E7F-F277FF4E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791075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8D536F-7A38-42FE-B8B8-FBB6E6CD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79107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角色分工明确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44E9D4-DBB5-4527-9676-9E20A2A1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19675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633C5F-43B7-4257-B7C0-F091EBD7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01967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上手简单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6E7D3A-A87C-43D6-A206-6FD41114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248275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C4B432-4DEF-4B67-99EF-14974B7D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24827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快速构建团队式 Agent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599111-0506-4208-977D-C20C8E15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638550"/>
            <a:ext cx="1200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9525">
            <a:solidFill>
              <a:srgbClr val="FF7A1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4B6F9B-A42B-441B-ACF8-E4337F02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7147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A3A71E-DDF5-472D-8158-7386CC19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7623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7A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7A1A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78FEB2-F784-4C3C-ABB2-2116E9BB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705225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AutoGen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A04120-82B4-4E46-9FB7-0486AE20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095750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•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355627-7F61-4D37-8786-EE51D638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0957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多 Agent 协作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3C3FDE7-049A-4AB2-8283-718DCFC4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324350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•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C207D86-C95B-4DEE-9F52-72AC443A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3243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Agent 对话机制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104544-0F8A-4B10-AAF5-4F4D98C0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552950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•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77C5214-6F32-4170-AB88-5D889D2F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5529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研究与实验友好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5CE7199-A8E8-4A41-A8C6-3A9A5AA9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95500"/>
            <a:ext cx="1790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3C67729-50FA-40A4-9E48-4291A90B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71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41760D1-AB6B-45EA-B692-AFBCA394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19325"/>
            <a:ext cx="36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SK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CAD0C41-DE9D-47D9-85AB-2541C583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162175"/>
            <a:ext cx="1123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Semantic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Kernel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D2A9298-EBE3-4BE8-8525-5B5118C8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43200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•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ED4345F-3C3D-4C8C-A040-27354474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7432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微软生态深度集成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51DEBA6-CB5B-43CF-8830-DE718302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71800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•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A8A8876-90DD-4D69-B411-CE8AF360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718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Plugin &amp; Memory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D126CA4-F377-45CD-BA4F-BC5CD1A4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00400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•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1A0022E-ABA4-4CE2-A680-34D2832C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2004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企业应用友好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6FA69A6-0ABE-4F95-AEBA-6BA181BC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10050"/>
            <a:ext cx="1752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9525">
            <a:solidFill>
              <a:srgbClr val="FFC92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6D3BA0A-B32C-47BB-BEA3-85D8C3A6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86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7C92209-B34D-4F32-A5F1-A3DEB297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33875"/>
            <a:ext cx="400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C9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C928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9ED6E45-0152-4328-ACD1-9BF7C940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76725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OpenAI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Agents SDK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9C3BE00-D488-4CC8-BD7E-11E7B829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953000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•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8212608-71B6-42B1-80EE-4B96BBF6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530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官方 SDK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3EF78B9-980B-4511-8940-6AC1598B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181600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•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39E5589-9C05-4D29-9BB3-30A2F5A1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1816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集成简单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FA854BE-F338-493C-A7B6-6256EB68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410200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•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F08FA4B-3795-492B-B6E4-F2B5C8B6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4102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与 OpenAI 模型最佳配合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AFAD56D-6280-4CE6-B8F6-3F93E4A6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124200"/>
            <a:ext cx="1600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AD4B"/>
          </a:solidFill>
          <a:ln xmlns:a="http://schemas.openxmlformats.org/drawingml/2006/main" w="9525">
            <a:solidFill>
              <a:srgbClr val="2EAD4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52D380D-FCF7-4F0D-B6CD-E8292D3A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2004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A8B4B9B-FB90-49C0-9F4E-919A263C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24802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EAD4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EAD4B"/>
                </a:solidFill>
                <a:latin typeface="Aptos"/>
                <a:ea typeface="Aptos"/>
                <a:cs typeface="Aptos"/>
              </a:rPr>
              <a:t>LG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CF26339-DBC1-4A3D-A410-A786D666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190875"/>
            <a:ext cx="1123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LangGraph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3E6BDF8-5F0A-47D1-AB68-2E0E3FED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581400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•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3224703-DA3B-4F4E-81A2-0B1DDB5B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5814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基于状态机的工作流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4A05034-A059-454C-A536-11D018D0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810000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•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BA32682-A3DD-4071-9B47-B8ACCF16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8100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灵活强大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E862E69-0545-45CF-B996-F18031E2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038600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•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76E0FB1-D8EF-4B27-8AA3-889C805B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0386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社区活跃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6952850-8BFC-4EA8-8016-FF83FCE0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257300"/>
            <a:ext cx="1962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B91"/>
          </a:solidFill>
          <a:ln xmlns:a="http://schemas.openxmlformats.org/drawingml/2006/main" w="9525">
            <a:solidFill>
              <a:srgbClr val="0B3B91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F47BE3B-049C-4155-8693-B4B13A25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333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55D866F-8075-4A6D-A0D1-A4BC7F32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381125"/>
            <a:ext cx="400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3B9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3B91"/>
                </a:solidFill>
                <a:latin typeface="Aptos"/>
                <a:ea typeface="Aptos"/>
                <a:cs typeface="Aptos"/>
              </a:rPr>
              <a:t>MAF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6B484F1-6444-4826-A3D7-248D5000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23975"/>
            <a:ext cx="1257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Microsoft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Agent FW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581FE71-8DA3-466B-A320-80D8E22F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24050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•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43037F7-7E4B-43DE-A2E0-0AD9B45A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240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Workflow 原生支持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DD8E438-3133-45BC-B1A5-2F8640A2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52650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•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EE08E30-FC99-473D-90D3-6429A5D0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526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State &amp; Checkpoint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AB41348-9B36-4754-B953-34C3E9B0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81250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•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A5B9AB1-10F6-449F-9415-1B3AFFB3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Observability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5DAB629-DD66-49B3-B0CA-FE8F8B52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09850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•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FC08399-5509-42ED-B0BE-1C444A1A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098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Human-in-the-loop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3E1548D-ED88-47A4-ABCC-8ACD8F40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38450"/>
            <a:ext cx="15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•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136F1F5-B355-4F56-B307-75AE4AA4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384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企业级能力最强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D3ED5CA-FF9C-4EB9-A19E-4B7A7F3C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24000"/>
            <a:ext cx="20955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CE8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448234D-4860-419E-B01C-740F7784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73355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3B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0B3B91"/>
                </a:solidFill>
                <a:latin typeface="Microsoft YaHei UI"/>
                <a:ea typeface="Microsoft YaHei UI"/>
                <a:cs typeface="Microsoft YaHei UI"/>
              </a:rPr>
              <a:t>关键能力对比维度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DD79CDE-C030-4629-8A06-C2A96B15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228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B67221C-8950-45F7-AE14-AC5833FF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3050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WF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EF9DD79-B594-4E6A-9D52-83168468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20980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工作流能力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DFE7E9C-E449-4651-8B2D-8FCF2E6D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438400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(Workflow)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8575331-5066-48FB-8E81-8C90C18C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781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AD4B"/>
          </a:solidFill>
          <a:ln xmlns:a="http://schemas.openxmlformats.org/drawingml/2006/main" w="9525">
            <a:solidFill>
              <a:srgbClr val="2EAD4B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39310B0-221F-4AB8-9DBF-0BAB79E1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85750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7AC6BFF-ACBD-4389-8CF3-167E13C3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7622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多 Agent 协作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E860D69-10DB-4D4F-8C7C-204BAD32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990850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(Multi-Agent)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B9CCEDB-F564-4A4E-9CA5-4F34820B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333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4BD8"/>
          </a:solidFill>
          <a:ln xmlns:a="http://schemas.openxmlformats.org/drawingml/2006/main" w="9525">
            <a:solidFill>
              <a:srgbClr val="8D4BD8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10BB67A-B4D7-42BC-BAB7-4A87C1A7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4099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7F35A20-1CF4-4E41-B64A-8DF6FCA4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31470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状态管理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E7D034F-AB0B-4060-A6C7-2625BFFE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543300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(State Mgmt.)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5FB2506-E7BB-408B-B032-865B75C1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886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928"/>
          </a:solidFill>
          <a:ln xmlns:a="http://schemas.openxmlformats.org/drawingml/2006/main" w="9525">
            <a:solidFill>
              <a:srgbClr val="FFC928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D0A624C-FDA6-4A8F-8388-8648827D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96240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E8AD5B3-B0FB-4DC2-B7DA-29E3076C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8671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记忆能力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DE0ECB2-F3BE-43AC-93AA-C1C7B9E8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095750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(Memory)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A828889-8865-46D4-B702-686A7851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4386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B827382-61F7-479A-881B-5289F0EA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5148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OB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333EB71-9977-4509-BF00-F5924D7A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41960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可观测性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8D41BB5-4B22-4315-9A8A-81B2C945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648200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(Observability)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CF41872-B785-4CBE-B3E1-F38285EF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991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E63"/>
          </a:solidFill>
          <a:ln xmlns:a="http://schemas.openxmlformats.org/drawingml/2006/main" w="9525">
            <a:solidFill>
              <a:srgbClr val="EF4E63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0CCD9A7-EC3E-4669-8E09-E0001503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06730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HI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FC94C60-A946-4420-AD9B-44E7FB9C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9720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人工干预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2A253FE-B22B-45EA-9BC2-7699DED9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5200650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(Human-in-the-loop)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3A97C2C-2739-422A-9D62-FF116B02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543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B7B9"/>
          </a:solidFill>
          <a:ln xmlns:a="http://schemas.openxmlformats.org/drawingml/2006/main" w="9525">
            <a:solidFill>
              <a:srgbClr val="38B7B9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2999708-A124-47C7-8847-D331B722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619750"/>
            <a:ext cx="361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ER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233F740-2E4F-4889-93E9-59D86108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552450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企业级特性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F6B0CC5-E1BF-424B-9B0A-39E92225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5753100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06162F"/>
                </a:solidFill>
                <a:latin typeface="Microsoft YaHei UI"/>
                <a:ea typeface="Microsoft YaHei UI"/>
                <a:cs typeface="Microsoft YaHei UI"/>
              </a:rPr>
              <a:t>(Enterprise Ready)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1B35312-E3EC-4AA4-B611-DBAE1FC1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6362700"/>
            <a:ext cx="590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A9C6EA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0046830-F05E-4EA4-84CC-DBCEDDA1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4674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3B91"/>
          </a:solidFill>
          <a:ln xmlns:a="http://schemas.openxmlformats.org/drawingml/2006/main" w="9525">
            <a:solidFill>
              <a:srgbClr val="0B3B91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82A5B33-3DA8-4494-B308-082F193C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64770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★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516CBD6-132D-4F89-BCD2-B4938495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64198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3B9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0B3B91"/>
                </a:solidFill>
                <a:latin typeface="Microsoft YaHei UI"/>
                <a:ea typeface="Microsoft YaHei UI"/>
                <a:cs typeface="Microsoft YaHei UI"/>
              </a:rPr>
              <a:t>Microsoft Agent Framework 在企业级能力与开发效率上达到最佳平衡，适合构建生产级 Agent 应用。</a:t>
            </a:r>
          </a:p>
        </p:txBody>
      </p:sp>
    </p:spTree>
    <p:extLst>
      <p:ext uri="{BB962C8B-B14F-4D97-AF65-F5344CB8AC3E}">
        <p14:creationId xmlns:p14="http://schemas.microsoft.com/office/powerpoint/2010/main" val="11596205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2026-06-04T01:12:11.1070000Z</dcterms:created>
  <dcterms:modified xsi:type="dcterms:W3CDTF">2026-06-04T01:12:11.1070000Z</dcterms:modified>
</coreProperties>
</file>