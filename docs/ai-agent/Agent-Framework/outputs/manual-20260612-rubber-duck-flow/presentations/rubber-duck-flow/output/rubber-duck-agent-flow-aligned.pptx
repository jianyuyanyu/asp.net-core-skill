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30352"/>
            <a:ext cx="8595360" cy="512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Microsoft YaHei"/>
              </a:rPr>
              <a:t>/rubber-duck：第二视角审查循环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43000"/>
            <a:ext cx="5669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0">
                <a:solidFill>
                  <a:srgbClr val="B8C0CC"/>
                </a:solidFill>
                <a:latin typeface="Microsoft YaHei"/>
              </a:rPr>
              <a:t>不是持续聊天的第二助手，而是按需调用的一轮审查器。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1783080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单次调用 = 一轮 critique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395728"/>
            <a:ext cx="3474720" cy="475488"/>
          </a:xfrm>
          <a:prstGeom prst="roundRect">
            <a:avLst/>
          </a:prstGeom>
          <a:solidFill>
            <a:srgbClr val="161C24"/>
          </a:solidFill>
          <a:ln w="1524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600" b="1">
                <a:solidFill>
                  <a:srgbClr val="FFD21E"/>
                </a:solidFill>
                <a:latin typeface="Microsoft YaHei"/>
              </a:rPr>
              <a:t>关键节点可反复调用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73552"/>
            <a:ext cx="38862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使用时机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42976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0CC"/>
                </a:solidFill>
                <a:latin typeface="Microsoft YaHei"/>
              </a:rPr>
              <a:t>写代码前：检查方案是否靠谱
改代码后：找边界条件和风险
提交前：补齐测试与真实问题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4389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核心变化：
从“我说给鸭子听”，变成“另一个模型主动挑刺”。</a:t>
            </a:r>
          </a:p>
        </p:txBody>
      </p:sp>
      <p:sp>
        <p:nvSpPr>
          <p:cNvPr id="9" name="Circular Arrow 8"/>
          <p:cNvSpPr/>
          <p:nvPr/>
        </p:nvSpPr>
        <p:spPr>
          <a:xfrm rot="2700000">
            <a:off x="7799831" y="2670048"/>
            <a:ext cx="3511296" cy="3511296"/>
          </a:xfrm>
          <a:prstGeom prst="circularArrow">
            <a:avLst/>
          </a:prstGeom>
          <a:solidFill>
            <a:srgbClr val="00AEE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3568" y="1417320"/>
            <a:ext cx="3145536" cy="1115568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267004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1 生成方案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2020824"/>
            <a:ext cx="2706624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Plan / Design / Code /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56848" y="3246120"/>
            <a:ext cx="257860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94592" y="3429000"/>
            <a:ext cx="21031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21E"/>
                </a:solidFill>
                <a:latin typeface="Microsoft YaHei"/>
              </a:rPr>
              <a:t>2 审查问题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76304" y="3849624"/>
            <a:ext cx="213969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/rubber-duck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6062472"/>
            <a:ext cx="2852928" cy="113385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6245352"/>
            <a:ext cx="23774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3 返回批评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6665976"/>
            <a:ext cx="241401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Blind spots / Risks /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04688" y="3273552"/>
            <a:ext cx="2487168" cy="1225296"/>
          </a:xfrm>
          <a:prstGeom prst="roundRect">
            <a:avLst/>
          </a:prstGeom>
          <a:solidFill>
            <a:srgbClr val="161C24"/>
          </a:solidFill>
          <a:ln w="12700"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1" y="3456432"/>
            <a:ext cx="201168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0AEEF"/>
                </a:solidFill>
                <a:latin typeface="Microsoft YaHei"/>
              </a:rPr>
              <a:t>4 吸收改进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3877056"/>
            <a:ext cx="2048256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B8C0CC"/>
                </a:solidFill>
                <a:latin typeface="Microsoft YaHei"/>
              </a:rPr>
              <a:t>主 Agent 继续执行</a:t>
            </a:r>
          </a:p>
        </p:txBody>
      </p:sp>
      <p:sp>
        <p:nvSpPr>
          <p:cNvPr id="22" name="Oval 21"/>
          <p:cNvSpPr/>
          <p:nvPr/>
        </p:nvSpPr>
        <p:spPr>
          <a:xfrm>
            <a:off x="8595359" y="3364992"/>
            <a:ext cx="1920240" cy="1920240"/>
          </a:xfrm>
          <a:prstGeom prst="ellipse">
            <a:avLst/>
          </a:prstGeom>
          <a:solidFill>
            <a:srgbClr val="1F2933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Second
Opinion
第二视角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0" y="941832"/>
            <a:ext cx="2148840" cy="438912"/>
          </a:xfrm>
          <a:prstGeom prst="roundRect">
            <a:avLst/>
          </a:prstGeom>
          <a:solidFill>
            <a:srgbClr val="080C10"/>
          </a:solidFill>
          <a:ln>
            <a:solidFill>
              <a:srgbClr val="46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D21E"/>
                </a:solidFill>
                <a:latin typeface="Consolas"/>
              </a:rPr>
              <a:t>&gt; /rubber-duck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7571231"/>
            <a:ext cx="8138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B8C0CC"/>
                </a:solidFill>
                <a:latin typeface="Microsoft YaHei"/>
              </a:rPr>
              <a:t>单次调用返回结构化 critique；主 Agent 吸收反馈后继续计划、实现和测试。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